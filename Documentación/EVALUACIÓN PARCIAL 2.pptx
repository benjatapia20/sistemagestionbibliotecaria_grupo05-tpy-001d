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  <p:sldMasterId id="214748366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embeddedFontLst>
    <p:embeddedFont>
      <p:font typeface="Play"/>
      <p:regular r:id="rId48"/>
      <p:bold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Play-regular.fntdata"/><Relationship Id="rId47" Type="http://schemas.openxmlformats.org/officeDocument/2006/relationships/slide" Target="slides/slide41.xml"/><Relationship Id="rId49" Type="http://schemas.openxmlformats.org/officeDocument/2006/relationships/font" Target="fonts/Play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dc9c1b6e4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dc9c1b6e4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dc9c1b6e4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dc9c1b6e4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866cf1d8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866cf1d8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866cf1d8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866cf1d8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87920703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87920703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866cf1d8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866cf1d8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866cf1d8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866cf1d8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866cf1d8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866cf1d8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866cf1d8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866cf1d8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866cf1d8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866cf1d8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866cf1d8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866cf1d8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866cf1d8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866cf1d8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866cf1d85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866cf1d85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2970d526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2970d526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2970d526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e2970d526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2970d526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e2970d526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866cf1d8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a866cf1d8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866cf1d85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866cf1d85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87920703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87920703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87920703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87920703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8741475b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a8741475b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87920703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87920703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87920703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a87920703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866cf1d8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a866cf1d8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866cf1d85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a866cf1d8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87920703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a87920703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866cf1d8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a866cf1d8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866cf1d8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a866cf1d8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866cf1d8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a866cf1d8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8741475b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a8741475b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8741475b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a8741475b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866cf1d8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a866cf1d8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866cf1d85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a866cf1d85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866cf1d8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a866cf1d8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a866cf1d85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a866cf1d85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87b4361d3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a87b4361d3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866cf1d8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a866cf1d8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a866cf1d85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a866cf1d8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87b4361d3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a87b4361d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a87b4361d3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a87b4361d3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ddc9c1b6e4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ddc9c1b6e4_0_2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principal">
  <p:cSld name="PORTADA princip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4290" y="1347605"/>
            <a:ext cx="53224" cy="244829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4458745" y="462516"/>
            <a:ext cx="4256100" cy="425040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4798912" y="2091485"/>
            <a:ext cx="221100" cy="22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" name="Google Shape;60;p14"/>
          <p:cNvCxnSpPr/>
          <p:nvPr/>
        </p:nvCxnSpPr>
        <p:spPr>
          <a:xfrm>
            <a:off x="5247167" y="3079865"/>
            <a:ext cx="3086100" cy="0"/>
          </a:xfrm>
          <a:prstGeom prst="straightConnector1">
            <a:avLst/>
          </a:prstGeom>
          <a:noFill/>
          <a:ln cap="flat" cmpd="sng" w="143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" name="Google Shape;61;p14"/>
          <p:cNvSpPr txBox="1"/>
          <p:nvPr>
            <p:ph type="title"/>
          </p:nvPr>
        </p:nvSpPr>
        <p:spPr>
          <a:xfrm>
            <a:off x="5186857" y="1951058"/>
            <a:ext cx="32835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5202964" y="3229130"/>
            <a:ext cx="32673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6609" y="905221"/>
            <a:ext cx="2531930" cy="40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1">
  <p:cSld name="INTERIOR 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491014" y="413281"/>
            <a:ext cx="36876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2" type="body"/>
          </p:nvPr>
        </p:nvSpPr>
        <p:spPr>
          <a:xfrm>
            <a:off x="480536" y="853178"/>
            <a:ext cx="36981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5"/>
          <p:cNvSpPr/>
          <p:nvPr/>
        </p:nvSpPr>
        <p:spPr>
          <a:xfrm>
            <a:off x="0" y="0"/>
            <a:ext cx="414600" cy="41460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p15"/>
          <p:cNvGrpSpPr/>
          <p:nvPr/>
        </p:nvGrpSpPr>
        <p:grpSpPr>
          <a:xfrm>
            <a:off x="7918756" y="4704554"/>
            <a:ext cx="1053627" cy="240700"/>
            <a:chOff x="8941676" y="5879067"/>
            <a:chExt cx="2618358" cy="598160"/>
          </a:xfrm>
        </p:grpSpPr>
        <p:sp>
          <p:nvSpPr>
            <p:cNvPr id="69" name="Google Shape;69;p15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10672317" y="5994129"/>
              <a:ext cx="388619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" name="Google Shape;71;p15"/>
            <p:cNvGrpSpPr/>
            <p:nvPr/>
          </p:nvGrpSpPr>
          <p:grpSpPr>
            <a:xfrm>
              <a:off x="11114331" y="5879067"/>
              <a:ext cx="445703" cy="598160"/>
              <a:chOff x="18406074" y="10234089"/>
              <a:chExt cx="445703" cy="598160"/>
            </a:xfrm>
          </p:grpSpPr>
          <p:sp>
            <p:nvSpPr>
              <p:cNvPr id="72" name="Google Shape;72;p15"/>
              <p:cNvSpPr/>
              <p:nvPr/>
            </p:nvSpPr>
            <p:spPr>
              <a:xfrm>
                <a:off x="18406074" y="10341395"/>
                <a:ext cx="376555" cy="490854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3" name="Google Shape;73;p15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2035848" y="3256778"/>
            <a:ext cx="89556" cy="3179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1">
  <p:cSld name="PORTADA interior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5823869" y="1607751"/>
            <a:ext cx="2952600" cy="2134200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5823870" y="1607752"/>
            <a:ext cx="257100" cy="25710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6343891" y="2064537"/>
            <a:ext cx="2104500" cy="12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/>
          <p:nvPr/>
        </p:nvSpPr>
        <p:spPr>
          <a:xfrm>
            <a:off x="0" y="2021305"/>
            <a:ext cx="1095000" cy="110100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-1" y="2064537"/>
            <a:ext cx="1095000" cy="10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1" lang="e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sz="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2">
  <p:cSld name="PORTADA interior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/>
          <p:nvPr/>
        </p:nvSpPr>
        <p:spPr>
          <a:xfrm>
            <a:off x="5823869" y="1607751"/>
            <a:ext cx="2952600" cy="2134200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5823870" y="1607752"/>
            <a:ext cx="257100" cy="25710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 txBox="1"/>
          <p:nvPr>
            <p:ph type="title"/>
          </p:nvPr>
        </p:nvSpPr>
        <p:spPr>
          <a:xfrm>
            <a:off x="6343891" y="2064537"/>
            <a:ext cx="2104500" cy="12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/>
          <p:nvPr/>
        </p:nvSpPr>
        <p:spPr>
          <a:xfrm>
            <a:off x="0" y="2021305"/>
            <a:ext cx="1095000" cy="110100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-1" y="2064537"/>
            <a:ext cx="1095000" cy="10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1" lang="e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sz="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2">
  <p:cSld name="INTERIOR 2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/>
          <p:nvPr/>
        </p:nvSpPr>
        <p:spPr>
          <a:xfrm>
            <a:off x="0" y="0"/>
            <a:ext cx="3344700" cy="51435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728210" y="675658"/>
            <a:ext cx="2811300" cy="379230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-5400000">
            <a:off x="8196850" y="2615612"/>
            <a:ext cx="1794120" cy="10017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>
            <p:ph type="title"/>
          </p:nvPr>
        </p:nvSpPr>
        <p:spPr>
          <a:xfrm>
            <a:off x="1108100" y="1664369"/>
            <a:ext cx="2104500" cy="12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1108100" y="3006680"/>
            <a:ext cx="2104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grpSp>
        <p:nvGrpSpPr>
          <p:cNvPr id="93" name="Google Shape;93;p18"/>
          <p:cNvGrpSpPr/>
          <p:nvPr/>
        </p:nvGrpSpPr>
        <p:grpSpPr>
          <a:xfrm>
            <a:off x="7918756" y="4704554"/>
            <a:ext cx="1053627" cy="240700"/>
            <a:chOff x="8941676" y="5879067"/>
            <a:chExt cx="2618358" cy="598160"/>
          </a:xfrm>
        </p:grpSpPr>
        <p:sp>
          <p:nvSpPr>
            <p:cNvPr id="94" name="Google Shape;94;p18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8"/>
            <p:cNvSpPr/>
            <p:nvPr/>
          </p:nvSpPr>
          <p:spPr>
            <a:xfrm>
              <a:off x="10672317" y="5994129"/>
              <a:ext cx="388619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" name="Google Shape;96;p18"/>
            <p:cNvGrpSpPr/>
            <p:nvPr/>
          </p:nvGrpSpPr>
          <p:grpSpPr>
            <a:xfrm>
              <a:off x="11114331" y="5879067"/>
              <a:ext cx="445703" cy="598160"/>
              <a:chOff x="18406074" y="10234089"/>
              <a:chExt cx="445703" cy="598160"/>
            </a:xfrm>
          </p:grpSpPr>
          <p:sp>
            <p:nvSpPr>
              <p:cNvPr id="97" name="Google Shape;97;p18"/>
              <p:cNvSpPr/>
              <p:nvPr/>
            </p:nvSpPr>
            <p:spPr>
              <a:xfrm>
                <a:off x="18406074" y="10341395"/>
                <a:ext cx="376555" cy="490854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98" name="Google Shape;98;p1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99" name="Google Shape;9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311" y="986442"/>
            <a:ext cx="89313" cy="3170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4">
  <p:cSld name="PORTADA interior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/>
          <p:nvPr/>
        </p:nvSpPr>
        <p:spPr>
          <a:xfrm>
            <a:off x="5823869" y="1607751"/>
            <a:ext cx="2952600" cy="2134200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5823870" y="1607752"/>
            <a:ext cx="257100" cy="25710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9"/>
          <p:cNvSpPr txBox="1"/>
          <p:nvPr>
            <p:ph type="title"/>
          </p:nvPr>
        </p:nvSpPr>
        <p:spPr>
          <a:xfrm>
            <a:off x="6343891" y="2064537"/>
            <a:ext cx="2104500" cy="12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9"/>
          <p:cNvSpPr/>
          <p:nvPr/>
        </p:nvSpPr>
        <p:spPr>
          <a:xfrm>
            <a:off x="0" y="2021305"/>
            <a:ext cx="1095000" cy="110100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-1" y="2064537"/>
            <a:ext cx="1095000" cy="10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1" lang="e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sz="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3">
  <p:cSld name="INTERIOR 3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/>
          <p:nvPr/>
        </p:nvSpPr>
        <p:spPr>
          <a:xfrm>
            <a:off x="0" y="0"/>
            <a:ext cx="866400" cy="51435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0"/>
          <p:cNvSpPr/>
          <p:nvPr/>
        </p:nvSpPr>
        <p:spPr>
          <a:xfrm>
            <a:off x="364223" y="304379"/>
            <a:ext cx="116700" cy="11670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4883140" y="304379"/>
            <a:ext cx="36876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2" type="body"/>
          </p:nvPr>
        </p:nvSpPr>
        <p:spPr>
          <a:xfrm>
            <a:off x="4883140" y="732110"/>
            <a:ext cx="36981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1" name="Google Shape;111;p20"/>
          <p:cNvSpPr/>
          <p:nvPr/>
        </p:nvSpPr>
        <p:spPr>
          <a:xfrm>
            <a:off x="8663934" y="362742"/>
            <a:ext cx="203700" cy="20370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20"/>
          <p:cNvGrpSpPr/>
          <p:nvPr/>
        </p:nvGrpSpPr>
        <p:grpSpPr>
          <a:xfrm>
            <a:off x="7918756" y="4704554"/>
            <a:ext cx="1053627" cy="240700"/>
            <a:chOff x="8941676" y="5879067"/>
            <a:chExt cx="2618358" cy="598160"/>
          </a:xfrm>
        </p:grpSpPr>
        <p:sp>
          <p:nvSpPr>
            <p:cNvPr id="113" name="Google Shape;113;p20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0"/>
            <p:cNvSpPr/>
            <p:nvPr/>
          </p:nvSpPr>
          <p:spPr>
            <a:xfrm>
              <a:off x="10672317" y="5994129"/>
              <a:ext cx="388619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5" name="Google Shape;115;p20"/>
            <p:cNvGrpSpPr/>
            <p:nvPr/>
          </p:nvGrpSpPr>
          <p:grpSpPr>
            <a:xfrm>
              <a:off x="11114331" y="5879067"/>
              <a:ext cx="445703" cy="598160"/>
              <a:chOff x="18406074" y="10234089"/>
              <a:chExt cx="445703" cy="598160"/>
            </a:xfrm>
          </p:grpSpPr>
          <p:sp>
            <p:nvSpPr>
              <p:cNvPr id="116" name="Google Shape;116;p20"/>
              <p:cNvSpPr/>
              <p:nvPr/>
            </p:nvSpPr>
            <p:spPr>
              <a:xfrm>
                <a:off x="18406074" y="10341395"/>
                <a:ext cx="376555" cy="490854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17" name="Google Shape;117;p20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18" name="Google Shape;1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194" y="1683705"/>
            <a:ext cx="89313" cy="3170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3">
  <p:cSld name="PORTADA interior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/>
          <p:nvPr/>
        </p:nvSpPr>
        <p:spPr>
          <a:xfrm>
            <a:off x="5823869" y="1607751"/>
            <a:ext cx="2952600" cy="2134200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1"/>
          <p:cNvSpPr/>
          <p:nvPr/>
        </p:nvSpPr>
        <p:spPr>
          <a:xfrm>
            <a:off x="5823870" y="1607752"/>
            <a:ext cx="257100" cy="25710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1"/>
          <p:cNvSpPr txBox="1"/>
          <p:nvPr>
            <p:ph type="title"/>
          </p:nvPr>
        </p:nvSpPr>
        <p:spPr>
          <a:xfrm>
            <a:off x="6343891" y="2064537"/>
            <a:ext cx="2104500" cy="12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1"/>
          <p:cNvSpPr/>
          <p:nvPr/>
        </p:nvSpPr>
        <p:spPr>
          <a:xfrm>
            <a:off x="0" y="2021305"/>
            <a:ext cx="1095000" cy="110100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-1" y="2064537"/>
            <a:ext cx="1095000" cy="10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1" lang="e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sz="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PA FINAL">
  <p:cSld name="TAPA FINAL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/>
          <p:nvPr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" name="Google Shape;127;p22"/>
          <p:cNvGrpSpPr/>
          <p:nvPr/>
        </p:nvGrpSpPr>
        <p:grpSpPr>
          <a:xfrm>
            <a:off x="1927196" y="4084220"/>
            <a:ext cx="5289606" cy="422609"/>
            <a:chOff x="1569453" y="5445627"/>
            <a:chExt cx="7052808" cy="563479"/>
          </a:xfrm>
        </p:grpSpPr>
        <p:pic>
          <p:nvPicPr>
            <p:cNvPr id="128" name="Google Shape;128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569736" y="5445627"/>
              <a:ext cx="5052525" cy="5634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69453" y="5505450"/>
              <a:ext cx="1331492" cy="44383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0" name="Google Shape;1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2884" y="1718733"/>
            <a:ext cx="2998232" cy="972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3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Relationship Id="rId4" Type="http://schemas.openxmlformats.org/officeDocument/2006/relationships/image" Target="../media/image32.png"/><Relationship Id="rId5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5186857" y="1951058"/>
            <a:ext cx="3283500" cy="979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Evaluación Parcial 2</a:t>
            </a:r>
            <a:endParaRPr/>
          </a:p>
        </p:txBody>
      </p:sp>
      <p:sp>
        <p:nvSpPr>
          <p:cNvPr id="136" name="Google Shape;136;p23"/>
          <p:cNvSpPr txBox="1"/>
          <p:nvPr>
            <p:ph idx="1" type="subTitle"/>
          </p:nvPr>
        </p:nvSpPr>
        <p:spPr>
          <a:xfrm>
            <a:off x="4467300" y="3229125"/>
            <a:ext cx="4227600" cy="98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/>
              <a:t>Integrantes: Benjamín Tapia - Joaquín Villalón</a:t>
            </a:r>
            <a:endParaRPr sz="1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Asignatura: Taller Aplicado De Programación</a:t>
            </a:r>
            <a:endParaRPr sz="1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/>
              <a:t>Sección: 001D</a:t>
            </a:r>
            <a:endParaRPr sz="1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/>
              <a:t>Docente: Nancy Beatriz Bernal Sánchez</a:t>
            </a:r>
            <a:endParaRPr sz="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42" name="Google Shape;142;p24"/>
          <p:cNvSpPr txBox="1"/>
          <p:nvPr>
            <p:ph idx="2" type="body"/>
          </p:nvPr>
        </p:nvSpPr>
        <p:spPr>
          <a:xfrm>
            <a:off x="311700" y="572700"/>
            <a:ext cx="3999900" cy="39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" sz="1050"/>
              <a:t>INTRODUCCIÓN</a:t>
            </a:r>
            <a:endParaRPr sz="10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" sz="1050"/>
              <a:t>RESUMEN EVALUACIÓN PARCIAL 1</a:t>
            </a:r>
            <a:endParaRPr sz="10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" sz="1050"/>
              <a:t>DESARROLLO EVALUACIÓN PARCIAL 2</a:t>
            </a:r>
            <a:endParaRPr sz="10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" sz="1050"/>
              <a:t>DESCRIPCIÓN Y CONTEXTO DEL PROYECTO</a:t>
            </a:r>
            <a:endParaRPr sz="10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" sz="1050"/>
              <a:t>DOCUMENTACIÓN Y DIAGRAMAS</a:t>
            </a:r>
            <a:endParaRPr sz="10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" sz="1050"/>
              <a:t>ARQUITECTURA Y ESPECIFICACIONES DEL SISTEMA</a:t>
            </a:r>
            <a:endParaRPr sz="10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" sz="1050"/>
              <a:t>CONFIGURACIÓN DEL AMBIENTE DE PRUEBAS</a:t>
            </a:r>
            <a:endParaRPr sz="10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" sz="1050"/>
              <a:t>ESTADO DE AVANCE DEL PROYECTO</a:t>
            </a:r>
            <a:endParaRPr sz="10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" sz="1050"/>
              <a:t>DESARROLLO Y CÓDIGO FUENTE</a:t>
            </a:r>
            <a:endParaRPr sz="10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" sz="1050"/>
              <a:t>PLAN DE PRUEBAS Y VALIDACIONES</a:t>
            </a:r>
            <a:endParaRPr sz="10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s" sz="1050"/>
              <a:t>CONCLUSIONES</a:t>
            </a:r>
            <a:endParaRPr sz="10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s" sz="1050"/>
              <a:t>LECCIONES APRENDIDAS</a:t>
            </a:r>
            <a:endParaRPr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INTRODUCCIÓN</a:t>
            </a:r>
            <a:endParaRPr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 - Problema identificado: Las bibliotecas dependen de procesos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    manuales para gestionar libros, préstamos y usuarios. La falta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    de automatización genera errores, pérdida de trazabilidad 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    dependencia total de internet.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 - Solución propuesta: Sistema de gestión bibliotecaria digital,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    escalable y resiliente. Permite operar tanto en la nube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    (Supabase) como completamente offline (Docker local) con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    sincronización bidireccional.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s"/>
              <a:t>- Objetivo general: Desarrollar una aplicación web progresiva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s"/>
              <a:t>    (PWA) que optimice la administración de una biblioteca,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s"/>
              <a:t>    garantizando operación continua incluso sin conexión a internet.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s"/>
              <a:t>  - Objetivos específicos: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s"/>
              <a:t>      - Implementar CRUD de libros con imágenes de carátula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s"/>
              <a:t>      - Gestionar préstamos con flujo de aprobación completo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s"/>
              <a:t>      - Sincronizar datos locales con la nube automáticamente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s"/>
              <a:t>      - Funcionar offline con cola de operaciones pendientes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lang="es"/>
              <a:t>      - Ofrecer asistente IA (chatbot) para recomendaciones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RESUMEN EVALUACIÓN PARCIAL 1</a:t>
            </a:r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- Configuración inicial del proyecto (React + Vite + TypeScript)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  - Estructura base del frontend con componentes iniciales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  - Conexión con Supabase para autenticación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  - Diseño de la base de datos (esquema inicial con tablas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    usuarios, libros, préstamos)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  - Prototipo de navegación (sidebar/bottom nav)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  - Maqueta de interfaz con Tailwind CSS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DESARROLLO EVALUACIÓN PARCIAL 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/>
        </p:nvSpPr>
        <p:spPr>
          <a:xfrm>
            <a:off x="150" y="484500"/>
            <a:ext cx="9144000" cy="20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 - Docker Compose con 4 servicios: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   PostgreSQL, PostgREST, Adminer y servidor de imágenes (Express)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  - Backend local completo con API REST autogenerada (PostgREST)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  - Sistema de doble autenticación: Supabase Auth (nube) y autenticación local con bcrypt (offline)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  - Flujo completo de préstamos: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    solicitar → aprobar → devolver → aprobar devolución → renovar multas automáticas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  - Motor de sincronización bidireccional (local ↔ Supabase)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  - Cola de operaciones offline (localStorage + tabla acciones_pendientes)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  - Chatbot con IA (Ollama + modelo Phi-3.5)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  - PWA: Service Worker para funcionamiento offline e instalación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  - Dashboard de administración con estadísticas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  - Modo oscuro/claro persistente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  - Diseño responsive (sidebar desktop + bottom nav mobile)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  - Favoritos con sincronización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DESCRIPCIÓN Y CONTEXTO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DEL PROYECTO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311700" y="445025"/>
            <a:ext cx="399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Contexto</a:t>
            </a:r>
            <a:endParaRPr/>
          </a:p>
        </p:txBody>
      </p:sp>
      <p:sp>
        <p:nvSpPr>
          <p:cNvPr id="191" name="Google Shape;191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- Bibliotecas escolares/universitarias con registro manual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- Falta de control sobre préstamos y devoluciones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- Sin historial de multas ni estado de libros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-</a:t>
            </a:r>
            <a:r>
              <a:rPr lang="es"/>
              <a:t> Caída de internet = parálisis total del servicio</a:t>
            </a:r>
            <a:endParaRPr/>
          </a:p>
        </p:txBody>
      </p:sp>
      <p:sp>
        <p:nvSpPr>
          <p:cNvPr id="192" name="Google Shape;192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- Administradores (bibliotecarios): gestionan catálogo,aprueban préstamos, monitorean el sistema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- Usuarios (estudiantes/docentes): consultan libros,solicitan préstamos, gestionan sus devoluciones</a:t>
            </a:r>
            <a:endParaRPr/>
          </a:p>
        </p:txBody>
      </p:sp>
      <p:sp>
        <p:nvSpPr>
          <p:cNvPr id="193" name="Google Shape;193;p33"/>
          <p:cNvSpPr txBox="1"/>
          <p:nvPr>
            <p:ph type="title"/>
          </p:nvPr>
        </p:nvSpPr>
        <p:spPr>
          <a:xfrm>
            <a:off x="4832400" y="445025"/>
            <a:ext cx="399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Público Objetivo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DOCUMENTACIÓN Y DIAGRAMAS</a:t>
            </a:r>
            <a:endParaRPr sz="3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775" y="152400"/>
            <a:ext cx="5222809" cy="4764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9975" y="152400"/>
            <a:ext cx="2464571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5"/>
          <p:cNvSpPr txBox="1"/>
          <p:nvPr>
            <p:ph type="title"/>
          </p:nvPr>
        </p:nvSpPr>
        <p:spPr>
          <a:xfrm>
            <a:off x="6262725" y="4353125"/>
            <a:ext cx="2799000" cy="56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CASOS DE USO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 CLASES</a:t>
            </a:r>
            <a:endParaRPr/>
          </a:p>
        </p:txBody>
      </p:sp>
      <p:sp>
        <p:nvSpPr>
          <p:cNvPr id="211" name="Google Shape;211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Representa la estructura orientada a objetos del sistema</a:t>
            </a:r>
            <a:endParaRPr/>
          </a:p>
        </p:txBody>
      </p:sp>
      <p:pic>
        <p:nvPicPr>
          <p:cNvPr id="212" name="Google Shape;21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0213" y="0"/>
            <a:ext cx="4772574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 MER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(MODELO ENTIDAD RELACIÓN)</a:t>
            </a:r>
            <a:endParaRPr/>
          </a:p>
        </p:txBody>
      </p:sp>
      <p:sp>
        <p:nvSpPr>
          <p:cNvPr id="218" name="Google Shape;218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Define las relaciones entre entidades de la base de datos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usuarios.id - prestamos.usuario_id</a:t>
            </a:r>
            <a:br>
              <a:rPr lang="es"/>
            </a:br>
            <a:r>
              <a:rPr lang="es"/>
              <a:t>libros.id - prestamos.libro_id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usuarios.id - reservas.usuario_id</a:t>
            </a:r>
            <a:br>
              <a:rPr lang="es"/>
            </a:br>
            <a:r>
              <a:rPr lang="es"/>
              <a:t>libros.id - reservas.libro_id </a:t>
            </a:r>
            <a:endParaRPr/>
          </a:p>
        </p:txBody>
      </p:sp>
      <p:pic>
        <p:nvPicPr>
          <p:cNvPr id="219" name="Google Shape;21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9925" y="133525"/>
            <a:ext cx="4933950" cy="450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 DE ARQUITECTURA</a:t>
            </a:r>
            <a:endParaRPr/>
          </a:p>
        </p:txBody>
      </p:sp>
      <p:sp>
        <p:nvSpPr>
          <p:cNvPr id="225" name="Google Shape;225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Muestra la comunicación entre frontend, servidor local y Supabase</a:t>
            </a:r>
            <a:endParaRPr/>
          </a:p>
        </p:txBody>
      </p:sp>
      <p:pic>
        <p:nvPicPr>
          <p:cNvPr id="226" name="Google Shape;22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3325" y="1266825"/>
            <a:ext cx="1657350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00"/>
              <a:t>ARQUITECTURA Y ESPECIFICACIONES</a:t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00"/>
              <a:t>DEL SISTEMA</a:t>
            </a:r>
            <a:endParaRPr sz="3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0"/>
          <p:cNvSpPr txBox="1"/>
          <p:nvPr>
            <p:ph type="title"/>
          </p:nvPr>
        </p:nvSpPr>
        <p:spPr>
          <a:xfrm>
            <a:off x="2815575" y="154975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ARQUITECTURA DEL SISTEMA</a:t>
            </a:r>
            <a:endParaRPr/>
          </a:p>
        </p:txBody>
      </p:sp>
      <p:pic>
        <p:nvPicPr>
          <p:cNvPr id="237" name="Google Shape;23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000" y="1614488"/>
            <a:ext cx="6191250" cy="1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1"/>
          <p:cNvSpPr txBox="1"/>
          <p:nvPr>
            <p:ph type="title"/>
          </p:nvPr>
        </p:nvSpPr>
        <p:spPr>
          <a:xfrm>
            <a:off x="2815575" y="154975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ARQUITECTURA DEL SISTEMA</a:t>
            </a:r>
            <a:endParaRPr/>
          </a:p>
        </p:txBody>
      </p:sp>
      <p:pic>
        <p:nvPicPr>
          <p:cNvPr id="243" name="Google Shape;24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4413" y="910675"/>
            <a:ext cx="6575172" cy="392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2"/>
          <p:cNvSpPr txBox="1"/>
          <p:nvPr>
            <p:ph type="title"/>
          </p:nvPr>
        </p:nvSpPr>
        <p:spPr>
          <a:xfrm>
            <a:off x="2815575" y="154975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ARQUITECTURA DEL SISTEMA</a:t>
            </a:r>
            <a:endParaRPr/>
          </a:p>
        </p:txBody>
      </p:sp>
      <p:pic>
        <p:nvPicPr>
          <p:cNvPr id="249" name="Google Shape;24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825" y="1936775"/>
            <a:ext cx="7934325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TECNOLOGÍAS UTILIZADAS</a:t>
            </a:r>
            <a:endParaRPr/>
          </a:p>
        </p:txBody>
      </p:sp>
      <p:pic>
        <p:nvPicPr>
          <p:cNvPr id="255" name="Google Shape;25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1176" y="79000"/>
            <a:ext cx="675614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4"/>
          <p:cNvSpPr txBox="1"/>
          <p:nvPr>
            <p:ph type="title"/>
          </p:nvPr>
        </p:nvSpPr>
        <p:spPr>
          <a:xfrm>
            <a:off x="311700" y="129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ESPECIFICACIONES TÉCNICAS</a:t>
            </a:r>
            <a:endParaRPr/>
          </a:p>
        </p:txBody>
      </p:sp>
      <p:pic>
        <p:nvPicPr>
          <p:cNvPr id="261" name="Google Shape;26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7450" y="701725"/>
            <a:ext cx="6465700" cy="427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5"/>
          <p:cNvSpPr txBox="1"/>
          <p:nvPr>
            <p:ph type="title"/>
          </p:nvPr>
        </p:nvSpPr>
        <p:spPr>
          <a:xfrm>
            <a:off x="311700" y="129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ESPECIFICACIONES TÉCNICAS</a:t>
            </a:r>
            <a:endParaRPr/>
          </a:p>
        </p:txBody>
      </p:sp>
      <p:pic>
        <p:nvPicPr>
          <p:cNvPr id="267" name="Google Shape;26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7825" y="1157275"/>
            <a:ext cx="5848350" cy="28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00"/>
              <a:t>CONFIGURACIÓN DEL AMBIENTE DE</a:t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00"/>
              <a:t>PRUEBAS</a:t>
            </a:r>
            <a:endParaRPr sz="3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7"/>
          <p:cNvSpPr txBox="1"/>
          <p:nvPr>
            <p:ph type="title"/>
          </p:nvPr>
        </p:nvSpPr>
        <p:spPr>
          <a:xfrm>
            <a:off x="311700" y="178100"/>
            <a:ext cx="8505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ENTORNO DE DESARROLLO</a:t>
            </a:r>
            <a:endParaRPr/>
          </a:p>
        </p:txBody>
      </p:sp>
      <p:sp>
        <p:nvSpPr>
          <p:cNvPr id="278" name="Google Shape;278;p47"/>
          <p:cNvSpPr txBox="1"/>
          <p:nvPr>
            <p:ph idx="1" type="body"/>
          </p:nvPr>
        </p:nvSpPr>
        <p:spPr>
          <a:xfrm>
            <a:off x="311700" y="933800"/>
            <a:ext cx="25635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00"/>
              <a:t>React + TypeScript</a:t>
            </a:r>
            <a:endParaRPr sz="1800"/>
          </a:p>
        </p:txBody>
      </p:sp>
      <p:pic>
        <p:nvPicPr>
          <p:cNvPr id="279" name="Google Shape;27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065250"/>
            <a:ext cx="1281802" cy="115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3500" y="2065250"/>
            <a:ext cx="1281800" cy="1153626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47"/>
          <p:cNvSpPr txBox="1"/>
          <p:nvPr>
            <p:ph type="title"/>
          </p:nvPr>
        </p:nvSpPr>
        <p:spPr>
          <a:xfrm>
            <a:off x="311700" y="4113200"/>
            <a:ext cx="25635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FRONTEND</a:t>
            </a:r>
            <a:endParaRPr/>
          </a:p>
        </p:txBody>
      </p:sp>
      <p:sp>
        <p:nvSpPr>
          <p:cNvPr id="282" name="Google Shape;282;p47"/>
          <p:cNvSpPr txBox="1"/>
          <p:nvPr>
            <p:ph idx="1" type="body"/>
          </p:nvPr>
        </p:nvSpPr>
        <p:spPr>
          <a:xfrm>
            <a:off x="3290250" y="933800"/>
            <a:ext cx="25635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Servidor local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/>
              <a:t>API REST</a:t>
            </a:r>
            <a:endParaRPr sz="1800"/>
          </a:p>
        </p:txBody>
      </p:sp>
      <p:sp>
        <p:nvSpPr>
          <p:cNvPr id="283" name="Google Shape;283;p47"/>
          <p:cNvSpPr txBox="1"/>
          <p:nvPr>
            <p:ph type="title"/>
          </p:nvPr>
        </p:nvSpPr>
        <p:spPr>
          <a:xfrm>
            <a:off x="3290250" y="4113200"/>
            <a:ext cx="25635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BACKEND / API</a:t>
            </a:r>
            <a:endParaRPr/>
          </a:p>
        </p:txBody>
      </p:sp>
      <p:sp>
        <p:nvSpPr>
          <p:cNvPr id="284" name="Google Shape;284;p47"/>
          <p:cNvSpPr txBox="1"/>
          <p:nvPr>
            <p:ph idx="1" type="body"/>
          </p:nvPr>
        </p:nvSpPr>
        <p:spPr>
          <a:xfrm>
            <a:off x="6268700" y="933800"/>
            <a:ext cx="25635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Supabase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/>
              <a:t>Supabase Storage</a:t>
            </a:r>
            <a:endParaRPr sz="1800"/>
          </a:p>
        </p:txBody>
      </p:sp>
      <p:sp>
        <p:nvSpPr>
          <p:cNvPr id="285" name="Google Shape;285;p47"/>
          <p:cNvSpPr txBox="1"/>
          <p:nvPr>
            <p:ph type="title"/>
          </p:nvPr>
        </p:nvSpPr>
        <p:spPr>
          <a:xfrm>
            <a:off x="6268700" y="4113200"/>
            <a:ext cx="25635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CLOUD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8"/>
          <p:cNvSpPr txBox="1"/>
          <p:nvPr>
            <p:ph type="title"/>
          </p:nvPr>
        </p:nvSpPr>
        <p:spPr>
          <a:xfrm>
            <a:off x="1331600" y="104163"/>
            <a:ext cx="8505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ENTORNO DE DESARROLLO</a:t>
            </a:r>
            <a:endParaRPr/>
          </a:p>
        </p:txBody>
      </p:sp>
      <p:pic>
        <p:nvPicPr>
          <p:cNvPr id="291" name="Google Shape;29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725" y="3559738"/>
            <a:ext cx="910851" cy="819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7575" y="3559738"/>
            <a:ext cx="910851" cy="81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8"/>
          <p:cNvSpPr txBox="1"/>
          <p:nvPr/>
        </p:nvSpPr>
        <p:spPr>
          <a:xfrm>
            <a:off x="1465075" y="4577638"/>
            <a:ext cx="118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Principal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94" name="Google Shape;29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9625" y="3559738"/>
            <a:ext cx="910851" cy="819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0475" y="3559738"/>
            <a:ext cx="910851" cy="81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48"/>
          <p:cNvSpPr txBox="1"/>
          <p:nvPr/>
        </p:nvSpPr>
        <p:spPr>
          <a:xfrm>
            <a:off x="5997975" y="4577638"/>
            <a:ext cx="118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Pruebas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97" name="Google Shape;297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7750" y="826163"/>
            <a:ext cx="1372300" cy="1405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8" name="Google Shape;298;p48"/>
          <p:cNvCxnSpPr/>
          <p:nvPr/>
        </p:nvCxnSpPr>
        <p:spPr>
          <a:xfrm flipH="1" rot="10800000">
            <a:off x="2798450" y="1953863"/>
            <a:ext cx="1269300" cy="92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" name="Google Shape;299;p48"/>
          <p:cNvCxnSpPr/>
          <p:nvPr/>
        </p:nvCxnSpPr>
        <p:spPr>
          <a:xfrm flipH="1">
            <a:off x="3154000" y="2231238"/>
            <a:ext cx="1299300" cy="96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" name="Google Shape;300;p48"/>
          <p:cNvCxnSpPr/>
          <p:nvPr/>
        </p:nvCxnSpPr>
        <p:spPr>
          <a:xfrm>
            <a:off x="5489850" y="1965113"/>
            <a:ext cx="814800" cy="89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1" name="Google Shape;301;p48"/>
          <p:cNvSpPr txBox="1"/>
          <p:nvPr/>
        </p:nvSpPr>
        <p:spPr>
          <a:xfrm>
            <a:off x="1331600" y="3054988"/>
            <a:ext cx="404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Lee y escribe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2" name="Google Shape;302;p48"/>
          <p:cNvSpPr txBox="1"/>
          <p:nvPr/>
        </p:nvSpPr>
        <p:spPr>
          <a:xfrm>
            <a:off x="6105200" y="3054988"/>
            <a:ext cx="404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Solo lectura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00"/>
              <a:t>ESTADO DE AVANCE DEL PROYECTO</a:t>
            </a:r>
            <a:endParaRPr sz="3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0167" y="0"/>
            <a:ext cx="478366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00"/>
              <a:t>DESARROLLO Y CÓDIGO FUENTE</a:t>
            </a:r>
            <a:endParaRPr sz="3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DESARROLLO IMPLEMENTADO</a:t>
            </a:r>
            <a:endParaRPr/>
          </a:p>
        </p:txBody>
      </p:sp>
      <p:sp>
        <p:nvSpPr>
          <p:cNvPr id="323" name="Google Shape;323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Gestión de libros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Edición y eliminación de registros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Solicitud de préstamos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Sistema de reservas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Sincronización con Supabase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Funcionamiento offline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 FUENTE E INTEGRACIÓN</a:t>
            </a:r>
            <a:endParaRPr/>
          </a:p>
        </p:txBody>
      </p:sp>
      <p:sp>
        <p:nvSpPr>
          <p:cNvPr id="329" name="Google Shape;329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Desarrollo basado en componentes React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Sincronización de datos locales y cloud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Control de versiones mediante GitHub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00"/>
              <a:t>PLAN DE PRUEBAS Y VALIDACIONES</a:t>
            </a:r>
            <a:endParaRPr sz="32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3551" y="0"/>
            <a:ext cx="475689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00"/>
              <a:t>CONCLUSIONES</a:t>
            </a:r>
            <a:endParaRPr sz="3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800" y="247650"/>
            <a:ext cx="6972300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5850" y="857250"/>
            <a:ext cx="69723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00"/>
              <a:t>LECCIONES APRENDIDAS</a:t>
            </a:r>
            <a:endParaRPr sz="32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775" y="438150"/>
            <a:ext cx="6648450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738" y="485775"/>
            <a:ext cx="648652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250" y="1100125"/>
            <a:ext cx="6667500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