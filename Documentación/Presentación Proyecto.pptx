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Play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0uQkvDwkwMH8scPaNzW+gigqw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Play-bold.fntdata"/><Relationship Id="rId10" Type="http://schemas.openxmlformats.org/officeDocument/2006/relationships/slide" Target="slides/slide6.xml"/><Relationship Id="rId21" Type="http://schemas.openxmlformats.org/officeDocument/2006/relationships/font" Target="fonts/Play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6b111e98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96b111e98e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6b111e98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96b111e98e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6b111e98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96b111e98e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6b111e98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96b111e98e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6b111e98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96b111e98e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principal">
  <p:cSld name="PORTADA principa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59053" y="1796807"/>
            <a:ext cx="70965" cy="326438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3"/>
          <p:cNvSpPr/>
          <p:nvPr/>
        </p:nvSpPr>
        <p:spPr>
          <a:xfrm>
            <a:off x="5944993" y="616688"/>
            <a:ext cx="5674686" cy="56671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3"/>
          <p:cNvSpPr/>
          <p:nvPr/>
        </p:nvSpPr>
        <p:spPr>
          <a:xfrm>
            <a:off x="6398549" y="2788646"/>
            <a:ext cx="294796" cy="29479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1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3"/>
          <p:cNvCxnSpPr/>
          <p:nvPr/>
        </p:nvCxnSpPr>
        <p:spPr>
          <a:xfrm>
            <a:off x="6996223" y="4106486"/>
            <a:ext cx="4114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" name="Google Shape;16;p13"/>
          <p:cNvSpPr txBox="1"/>
          <p:nvPr>
            <p:ph type="title"/>
          </p:nvPr>
        </p:nvSpPr>
        <p:spPr>
          <a:xfrm>
            <a:off x="6915809" y="2601411"/>
            <a:ext cx="4377817" cy="13060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6937285" y="4305507"/>
            <a:ext cx="4356341" cy="614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8" name="Google Shape;1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8812" y="1206961"/>
            <a:ext cx="3375906" cy="542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1">
  <p:cSld name="INTERIOR 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idx="1" type="body"/>
          </p:nvPr>
        </p:nvSpPr>
        <p:spPr>
          <a:xfrm>
            <a:off x="654685" y="551041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2" type="body"/>
          </p:nvPr>
        </p:nvSpPr>
        <p:spPr>
          <a:xfrm>
            <a:off x="640715" y="1137571"/>
            <a:ext cx="4930746" cy="553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4"/>
          <p:cNvSpPr/>
          <p:nvPr/>
        </p:nvSpPr>
        <p:spPr>
          <a:xfrm>
            <a:off x="0" y="0"/>
            <a:ext cx="552893" cy="552893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" name="Google Shape;23;p14"/>
          <p:cNvGrpSpPr/>
          <p:nvPr/>
        </p:nvGrpSpPr>
        <p:grpSpPr>
          <a:xfrm>
            <a:off x="10559057" y="6273209"/>
            <a:ext cx="1405046" cy="320981"/>
            <a:chOff x="8941676" y="5879067"/>
            <a:chExt cx="2618358" cy="598161"/>
          </a:xfrm>
        </p:grpSpPr>
        <p:sp>
          <p:nvSpPr>
            <p:cNvPr id="24" name="Google Shape;24;p14"/>
            <p:cNvSpPr/>
            <p:nvPr/>
          </p:nvSpPr>
          <p:spPr>
            <a:xfrm>
              <a:off x="8941676" y="5949980"/>
              <a:ext cx="1618615" cy="525145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4"/>
            <p:cNvSpPr/>
            <p:nvPr/>
          </p:nvSpPr>
          <p:spPr>
            <a:xfrm>
              <a:off x="10672317" y="5994129"/>
              <a:ext cx="388620" cy="48260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" name="Google Shape;26;p14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27" name="Google Shape;27;p14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8" name="Google Shape;28;p14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9" name="Google Shape;2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2714468" y="4342374"/>
            <a:ext cx="119408" cy="4238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1">
  <p:cSld name="PORTADA interior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5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5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5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CL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2">
  <p:cSld name="PORTADA interior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6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6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6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CL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2">
  <p:cSld name="INTERIOR 2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7"/>
          <p:cNvSpPr/>
          <p:nvPr/>
        </p:nvSpPr>
        <p:spPr>
          <a:xfrm>
            <a:off x="0" y="0"/>
            <a:ext cx="445970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7"/>
          <p:cNvSpPr/>
          <p:nvPr/>
        </p:nvSpPr>
        <p:spPr>
          <a:xfrm>
            <a:off x="970947" y="900877"/>
            <a:ext cx="3748474" cy="5056245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" name="Google Shape;45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-5400000">
            <a:off x="10929134" y="3487483"/>
            <a:ext cx="2392160" cy="133572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7"/>
          <p:cNvSpPr txBox="1"/>
          <p:nvPr>
            <p:ph type="title"/>
          </p:nvPr>
        </p:nvSpPr>
        <p:spPr>
          <a:xfrm>
            <a:off x="1477466" y="2219158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" type="body"/>
          </p:nvPr>
        </p:nvSpPr>
        <p:spPr>
          <a:xfrm>
            <a:off x="1477466" y="4008906"/>
            <a:ext cx="2805775" cy="746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48" name="Google Shape;48;p17"/>
          <p:cNvGrpSpPr/>
          <p:nvPr/>
        </p:nvGrpSpPr>
        <p:grpSpPr>
          <a:xfrm>
            <a:off x="10559057" y="6273209"/>
            <a:ext cx="1405046" cy="320981"/>
            <a:chOff x="8941676" y="5879067"/>
            <a:chExt cx="2618358" cy="598161"/>
          </a:xfrm>
        </p:grpSpPr>
        <p:sp>
          <p:nvSpPr>
            <p:cNvPr id="49" name="Google Shape;49;p17"/>
            <p:cNvSpPr/>
            <p:nvPr/>
          </p:nvSpPr>
          <p:spPr>
            <a:xfrm>
              <a:off x="8941676" y="5949980"/>
              <a:ext cx="1618615" cy="525145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17"/>
            <p:cNvSpPr/>
            <p:nvPr/>
          </p:nvSpPr>
          <p:spPr>
            <a:xfrm>
              <a:off x="10672317" y="5994129"/>
              <a:ext cx="388620" cy="48260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" name="Google Shape;51;p17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52" name="Google Shape;52;p17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3" name="Google Shape;53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54" name="Google Shape;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414" y="1315256"/>
            <a:ext cx="119084" cy="4227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4">
  <p:cSld name="PORTADA interior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8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8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8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CL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3">
  <p:cSld name="INTERIOR 3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/>
          <p:nvPr/>
        </p:nvSpPr>
        <p:spPr>
          <a:xfrm>
            <a:off x="0" y="0"/>
            <a:ext cx="1155032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9"/>
          <p:cNvSpPr/>
          <p:nvPr/>
        </p:nvSpPr>
        <p:spPr>
          <a:xfrm>
            <a:off x="485631" y="405838"/>
            <a:ext cx="155636" cy="155636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6510853" y="405838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9"/>
          <p:cNvSpPr txBox="1"/>
          <p:nvPr>
            <p:ph idx="2" type="body"/>
          </p:nvPr>
        </p:nvSpPr>
        <p:spPr>
          <a:xfrm>
            <a:off x="6510853" y="976146"/>
            <a:ext cx="4930746" cy="2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9"/>
          <p:cNvSpPr/>
          <p:nvPr/>
        </p:nvSpPr>
        <p:spPr>
          <a:xfrm>
            <a:off x="11551912" y="483656"/>
            <a:ext cx="271438" cy="27143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" name="Google Shape;67;p19"/>
          <p:cNvGrpSpPr/>
          <p:nvPr/>
        </p:nvGrpSpPr>
        <p:grpSpPr>
          <a:xfrm>
            <a:off x="10559057" y="6273209"/>
            <a:ext cx="1405046" cy="320981"/>
            <a:chOff x="8941676" y="5879067"/>
            <a:chExt cx="2618358" cy="598161"/>
          </a:xfrm>
        </p:grpSpPr>
        <p:sp>
          <p:nvSpPr>
            <p:cNvPr id="68" name="Google Shape;68;p19"/>
            <p:cNvSpPr/>
            <p:nvPr/>
          </p:nvSpPr>
          <p:spPr>
            <a:xfrm>
              <a:off x="8941676" y="5949980"/>
              <a:ext cx="1618615" cy="525145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9"/>
            <p:cNvSpPr/>
            <p:nvPr/>
          </p:nvSpPr>
          <p:spPr>
            <a:xfrm>
              <a:off x="10672317" y="5994129"/>
              <a:ext cx="388620" cy="48260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0" name="Google Shape;70;p19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71" name="Google Shape;71;p19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2" name="Google Shape;72;p19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73" name="Google Shape;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592" y="2244940"/>
            <a:ext cx="119084" cy="4227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3">
  <p:cSld name="PORTADA interior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0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0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0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CL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PA FINAL">
  <p:cSld name="TAPA FINAL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" name="Google Shape;82;p21"/>
          <p:cNvGrpSpPr/>
          <p:nvPr/>
        </p:nvGrpSpPr>
        <p:grpSpPr>
          <a:xfrm>
            <a:off x="2569595" y="5445627"/>
            <a:ext cx="7052811" cy="563479"/>
            <a:chOff x="1569453" y="5445627"/>
            <a:chExt cx="7052811" cy="563479"/>
          </a:xfrm>
        </p:grpSpPr>
        <p:pic>
          <p:nvPicPr>
            <p:cNvPr id="83" name="Google Shape;8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569736" y="5445627"/>
              <a:ext cx="5052528" cy="5634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69453" y="5505450"/>
              <a:ext cx="1331493" cy="44383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5" name="Google Shape;8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97179" y="2291644"/>
            <a:ext cx="3997641" cy="1296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>
            <p:ph type="title"/>
          </p:nvPr>
        </p:nvSpPr>
        <p:spPr>
          <a:xfrm>
            <a:off x="6915809" y="2601411"/>
            <a:ext cx="4377817" cy="13060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s-CL">
                <a:latin typeface="Arial"/>
                <a:ea typeface="Arial"/>
                <a:cs typeface="Arial"/>
                <a:sym typeface="Arial"/>
              </a:rPr>
              <a:t>Presentación 1:</a:t>
            </a:r>
            <a:br>
              <a:rPr lang="es-CL"/>
            </a:br>
            <a:r>
              <a:rPr lang="es-CL"/>
              <a:t>Taller Aplicado De Programación</a:t>
            </a:r>
            <a:endParaRPr/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6106475" y="4409225"/>
            <a:ext cx="5378100" cy="17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/>
              <a:t>Nombre Proyecto: Sistema Inteligente de Gestión Bibliotecaria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/>
              <a:t>Integrantes: Benjamín Tapia - Joaquín Villalón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/>
              <a:t>Profesora: Nancy Beatriz Bernal Sánchez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/>
              <a:t>Fecha: 31/03/2026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idx="1" type="body"/>
          </p:nvPr>
        </p:nvSpPr>
        <p:spPr>
          <a:xfrm>
            <a:off x="654685" y="551041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7965" lvl="0" marL="22796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s-CL">
                <a:latin typeface="Arial"/>
                <a:ea typeface="Arial"/>
                <a:cs typeface="Arial"/>
                <a:sym typeface="Arial"/>
              </a:rPr>
              <a:t>Indice/agenda</a:t>
            </a:r>
            <a:endParaRPr/>
          </a:p>
        </p:txBody>
      </p:sp>
      <p:sp>
        <p:nvSpPr>
          <p:cNvPr id="97" name="Google Shape;97;p2"/>
          <p:cNvSpPr txBox="1"/>
          <p:nvPr>
            <p:ph idx="2" type="body"/>
          </p:nvPr>
        </p:nvSpPr>
        <p:spPr>
          <a:xfrm>
            <a:off x="640715" y="1137570"/>
            <a:ext cx="6555952" cy="3180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7965" lvl="0" marL="2279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 sz="2800"/>
              <a:t>1</a:t>
            </a:r>
            <a:r>
              <a:rPr lang="es-CL" sz="2800">
                <a:latin typeface="Arial"/>
                <a:ea typeface="Arial"/>
                <a:cs typeface="Arial"/>
                <a:sym typeface="Arial"/>
              </a:rPr>
              <a:t>. Descripción del proyecto</a:t>
            </a:r>
            <a:endParaRPr/>
          </a:p>
          <a:p>
            <a:pPr indent="-227965" lvl="0" marL="2279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 sz="2800"/>
              <a:t>2</a:t>
            </a:r>
            <a:r>
              <a:rPr lang="es-CL" sz="2800">
                <a:latin typeface="Arial"/>
                <a:ea typeface="Arial"/>
                <a:cs typeface="Arial"/>
                <a:sym typeface="Arial"/>
              </a:rPr>
              <a:t>. Contexto del proyecto.</a:t>
            </a:r>
            <a:endParaRPr/>
          </a:p>
          <a:p>
            <a:pPr indent="-227965" lvl="0" marL="2279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 sz="2800"/>
              <a:t>3</a:t>
            </a:r>
            <a:r>
              <a:rPr lang="es-CL" sz="2800"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s-CL" sz="2800"/>
              <a:t>Objetivos del proyecto</a:t>
            </a:r>
            <a:r>
              <a:rPr lang="es-CL" sz="2800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27965" lvl="0" marL="2279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 sz="2800"/>
              <a:t>4</a:t>
            </a:r>
            <a:r>
              <a:rPr lang="es-CL" sz="2800"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s-CL" sz="2800"/>
              <a:t>Diagrama general de la situación inicial.</a:t>
            </a:r>
            <a:endParaRPr/>
          </a:p>
          <a:p>
            <a:pPr indent="0" lvl="0" marL="228594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i="1" lang="es-CL"/>
              <a:t>Descripción Del Proyecto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>
            <p:ph idx="1" type="body"/>
          </p:nvPr>
        </p:nvSpPr>
        <p:spPr>
          <a:xfrm>
            <a:off x="654676" y="551050"/>
            <a:ext cx="92853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/>
              <a:t>Sistema Inteligente de Gestión Bibliotecaria Resiliente</a:t>
            </a:r>
            <a:endParaRPr sz="21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0" sz="2100"/>
          </a:p>
        </p:txBody>
      </p:sp>
      <p:sp>
        <p:nvSpPr>
          <p:cNvPr id="108" name="Google Shape;108;p4"/>
          <p:cNvSpPr txBox="1"/>
          <p:nvPr>
            <p:ph idx="2" type="body"/>
          </p:nvPr>
        </p:nvSpPr>
        <p:spPr>
          <a:xfrm>
            <a:off x="654675" y="1667775"/>
            <a:ext cx="10117800" cy="39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/>
              <a:t>Plataforma web híbrida que combina el almacenamiento en la nube con un nodo de contingencia local.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/>
              <a:t>Utiliza una arquitectura de sincronización automática para mantener los datos actualizados en todo momento.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200"/>
              <a:t>Su función principal es digitalizar la administración de libros, préstamos y devoluciones, garantizando que el sistema </a:t>
            </a:r>
            <a:r>
              <a:rPr b="1" lang="es-CL" sz="2200"/>
              <a:t>nunca se detenga</a:t>
            </a:r>
            <a:r>
              <a:rPr lang="es-CL" sz="2200"/>
              <a:t>, incluso si falla el internet de la institución.</a:t>
            </a:r>
            <a:endParaRPr sz="22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6b111e98e_0_32"/>
          <p:cNvSpPr txBox="1"/>
          <p:nvPr>
            <p:ph idx="1" type="body"/>
          </p:nvPr>
        </p:nvSpPr>
        <p:spPr>
          <a:xfrm>
            <a:off x="654676" y="551050"/>
            <a:ext cx="92853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/>
              <a:t>Estado del arte y diferenciación</a:t>
            </a:r>
            <a:endParaRPr sz="21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0" sz="2100"/>
          </a:p>
        </p:txBody>
      </p:sp>
      <p:sp>
        <p:nvSpPr>
          <p:cNvPr id="114" name="Google Shape;114;g396b111e98e_0_32"/>
          <p:cNvSpPr txBox="1"/>
          <p:nvPr>
            <p:ph idx="2" type="body"/>
          </p:nvPr>
        </p:nvSpPr>
        <p:spPr>
          <a:xfrm>
            <a:off x="654675" y="1667775"/>
            <a:ext cx="10117800" cy="39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/>
              <a:t>Sistemas Actuales (Koha):</a:t>
            </a:r>
            <a:r>
              <a:rPr lang="es-CL" sz="2000"/>
              <a:t> Sistemas robustos pero con </a:t>
            </a:r>
            <a:r>
              <a:rPr b="1" lang="es-CL" sz="2000"/>
              <a:t>interfaces poco intuitivas y visualmente desactualizadas</a:t>
            </a:r>
            <a:r>
              <a:rPr lang="es-CL" sz="2000"/>
              <a:t>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s-CL" sz="2000"/>
              <a:t>Curva de aprendizaje lenta para el personal bibliotecario.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CL" sz="2000"/>
              <a:t>Dependencia de configuraciones de servidor complejas para soporte offline.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2000"/>
              <a:t>La Propuesta de nuestro proyecto:</a:t>
            </a:r>
            <a:endParaRPr b="1"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b="1" lang="es-CL" sz="2000"/>
              <a:t>Interfaz Moderna:</a:t>
            </a:r>
            <a:r>
              <a:rPr lang="es-CL" sz="2000"/>
              <a:t> Basada en componentes de </a:t>
            </a:r>
            <a:r>
              <a:rPr b="1" lang="es-CL" sz="2000"/>
              <a:t>React.js</a:t>
            </a:r>
            <a:r>
              <a:rPr lang="es-CL" sz="2000"/>
              <a:t> para una navegación fluida y simple.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s-CL" sz="2000"/>
              <a:t>Enfoque en el Usuario:</a:t>
            </a:r>
            <a:r>
              <a:rPr lang="es-CL" sz="2000"/>
              <a:t> Reducción de pasos innecesarios en el flujo de préstamo.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s-CL" sz="2000"/>
              <a:t>Resiliencia Nativa:</a:t>
            </a:r>
            <a:r>
              <a:rPr lang="es-CL" sz="2000"/>
              <a:t> Diseñado desde el código base para alternar entre Nube y Local sin intervención del usuario.</a:t>
            </a: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1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i="1" lang="es-CL"/>
              <a:t>Contexto Del Proyecto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idx="4294967295" type="body"/>
          </p:nvPr>
        </p:nvSpPr>
        <p:spPr>
          <a:xfrm>
            <a:off x="822950" y="1738125"/>
            <a:ext cx="4137900" cy="58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</a:pPr>
            <a:r>
              <a:rPr lang="es-CL" sz="2100">
                <a:solidFill>
                  <a:schemeClr val="lt1"/>
                </a:solidFill>
              </a:rPr>
              <a:t>La biblioteca no tiene un sistema digital</a:t>
            </a:r>
            <a:endParaRPr sz="2100">
              <a:solidFill>
                <a:schemeClr val="lt1"/>
              </a:solidFill>
            </a:endParaRPr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</a:pPr>
            <a:r>
              <a:rPr lang="es-CL" sz="2100">
                <a:solidFill>
                  <a:schemeClr val="lt1"/>
                </a:solidFill>
              </a:rPr>
              <a:t>Control manual de los préstamos de libros</a:t>
            </a:r>
            <a:endParaRPr sz="2100">
              <a:solidFill>
                <a:schemeClr val="lt1"/>
              </a:solidFill>
            </a:endParaRPr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</a:pPr>
            <a:r>
              <a:rPr lang="es-CL" sz="2100">
                <a:solidFill>
                  <a:schemeClr val="lt1"/>
                </a:solidFill>
              </a:rPr>
              <a:t>Falta de trazabilidad</a:t>
            </a:r>
            <a:endParaRPr sz="2100">
              <a:solidFill>
                <a:schemeClr val="lt1"/>
              </a:solidFill>
            </a:endParaRPr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</a:pPr>
            <a:r>
              <a:rPr lang="es-CL" sz="2100">
                <a:solidFill>
                  <a:schemeClr val="lt1"/>
                </a:solidFill>
              </a:rPr>
              <a:t>Dependencia de internet</a:t>
            </a:r>
            <a:endParaRPr sz="2100">
              <a:solidFill>
                <a:schemeClr val="lt1"/>
              </a:solidFill>
            </a:endParaRPr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</a:pPr>
            <a:r>
              <a:rPr lang="es-CL" sz="2100">
                <a:solidFill>
                  <a:schemeClr val="lt1"/>
                </a:solidFill>
              </a:rPr>
              <a:t>Necesidad de automatización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5071450" y="1288600"/>
            <a:ext cx="6420000" cy="4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</a:rPr>
              <a:t>La dependencia crítica de la conectividad a internet en los sistemas bibliotecarios actuales genera un "punto único de falla". Ante caídas de red, se produce una </a:t>
            </a:r>
            <a:r>
              <a:rPr b="1" lang="es-CL" sz="2000">
                <a:solidFill>
                  <a:schemeClr val="dk1"/>
                </a:solidFill>
              </a:rPr>
              <a:t>parálisis administrativa</a:t>
            </a:r>
            <a:r>
              <a:rPr lang="es-CL" sz="2000">
                <a:solidFill>
                  <a:schemeClr val="dk1"/>
                </a:solidFill>
              </a:rPr>
              <a:t> donde </a:t>
            </a:r>
            <a:r>
              <a:rPr b="1" lang="es-CL" sz="2000">
                <a:solidFill>
                  <a:schemeClr val="dk1"/>
                </a:solidFill>
              </a:rPr>
              <a:t>no se pueden registrar préstamos ni devoluciones</a:t>
            </a:r>
            <a:r>
              <a:rPr lang="es-CL" sz="2000">
                <a:solidFill>
                  <a:schemeClr val="dk1"/>
                </a:solidFill>
              </a:rPr>
              <a:t>. Esto deriva en inconsistencias de inventario y, lo más grave, en la </a:t>
            </a:r>
            <a:r>
              <a:rPr b="1" lang="es-CL" sz="2000">
                <a:solidFill>
                  <a:schemeClr val="dk1"/>
                </a:solidFill>
              </a:rPr>
              <a:t>generación injusta de multas y bloqueos</a:t>
            </a:r>
            <a:r>
              <a:rPr lang="es-CL" sz="2000">
                <a:solidFill>
                  <a:schemeClr val="dk1"/>
                </a:solidFill>
              </a:rPr>
              <a:t> para los usuarios que intentan devolver libros a tiempo durante la desconexión, ya que el sistema Cloud no puede validar la transacción en el momento real.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26" name="Google Shape;126;p6"/>
          <p:cNvSpPr txBox="1"/>
          <p:nvPr/>
        </p:nvSpPr>
        <p:spPr>
          <a:xfrm>
            <a:off x="5071450" y="389575"/>
            <a:ext cx="60396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chemeClr val="dk1"/>
                </a:solidFill>
              </a:rPr>
              <a:t>Problema detectado</a:t>
            </a:r>
            <a:endParaRPr b="1"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6b111e98e_0_5"/>
          <p:cNvSpPr txBox="1"/>
          <p:nvPr/>
        </p:nvSpPr>
        <p:spPr>
          <a:xfrm>
            <a:off x="5071450" y="1288600"/>
            <a:ext cx="6420000" cy="4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500">
                <a:solidFill>
                  <a:schemeClr val="dk1"/>
                </a:solidFill>
              </a:rPr>
              <a:t>1. Inst</a:t>
            </a:r>
            <a:r>
              <a:rPr b="1" lang="es-CL" sz="1700">
                <a:solidFill>
                  <a:schemeClr val="dk1"/>
                </a:solidFill>
              </a:rPr>
              <a:t>ituciones de Educación Superior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CL" sz="1700">
                <a:solidFill>
                  <a:schemeClr val="dk1"/>
                </a:solidFill>
              </a:rPr>
              <a:t>IP y CFT:</a:t>
            </a:r>
            <a:r>
              <a:rPr lang="es-CL" sz="1700">
                <a:solidFill>
                  <a:schemeClr val="dk1"/>
                </a:solidFill>
              </a:rPr>
              <a:t> Instituciones con alta afluencia de alumnos que dependen de procesos rápidos de préstamo de libros.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700">
                <a:solidFill>
                  <a:schemeClr val="dk1"/>
                </a:solidFill>
              </a:rPr>
              <a:t>2. Bibliotecas Públicas y Municipales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Organizaciones que operan con presupuestos de infraestructura limitados.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Bibliotecas en zonas rurales o periféricas donde la conectividad es intermitente o de baja calidad.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700">
                <a:solidFill>
                  <a:schemeClr val="dk1"/>
                </a:solidFill>
              </a:rPr>
              <a:t>3. Centros de Documentación Técnica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Empresas o instituciones que manejan archivos críticos y manuales técnicos que deben estar disponibles </a:t>
            </a:r>
            <a:r>
              <a:rPr b="1" lang="es-CL" sz="1700">
                <a:solidFill>
                  <a:schemeClr val="dk1"/>
                </a:solidFill>
              </a:rPr>
              <a:t>24/7</a:t>
            </a:r>
            <a:r>
              <a:rPr lang="es-CL" sz="1700">
                <a:solidFill>
                  <a:schemeClr val="dk1"/>
                </a:solidFill>
              </a:rPr>
              <a:t>, sin importar el estado de la red externa.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132" name="Google Shape;132;g396b111e98e_0_5"/>
          <p:cNvSpPr txBox="1"/>
          <p:nvPr/>
        </p:nvSpPr>
        <p:spPr>
          <a:xfrm>
            <a:off x="5071450" y="389575"/>
            <a:ext cx="60396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chemeClr val="dk1"/>
                </a:solidFill>
              </a:rPr>
              <a:t>Mercado objetivo</a:t>
            </a:r>
            <a:endParaRPr b="1"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8" title="ARB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3850" y="562625"/>
            <a:ext cx="10361924" cy="621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8"/>
          <p:cNvSpPr txBox="1"/>
          <p:nvPr/>
        </p:nvSpPr>
        <p:spPr>
          <a:xfrm>
            <a:off x="3295313" y="136000"/>
            <a:ext cx="663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chemeClr val="dk1"/>
                </a:solidFill>
              </a:rPr>
              <a:t>Árbol de oportunidad</a:t>
            </a:r>
            <a:endParaRPr b="1"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i="1" lang="es-CL"/>
              <a:t>Objetivos del Proyecto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6b111e98e_0_12"/>
          <p:cNvSpPr txBox="1"/>
          <p:nvPr/>
        </p:nvSpPr>
        <p:spPr>
          <a:xfrm>
            <a:off x="1848775" y="1046550"/>
            <a:ext cx="9866400" cy="45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2200">
                <a:solidFill>
                  <a:schemeClr val="dk1"/>
                </a:solidFill>
              </a:rPr>
              <a:t>Objetivos Generales</a:t>
            </a:r>
            <a:endParaRPr b="1" sz="22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s-CL" sz="2000">
                <a:solidFill>
                  <a:schemeClr val="dk1"/>
                </a:solidFill>
              </a:rPr>
              <a:t>Desarrollar una solución informática de alta disponibilidad para la gestión bibliotecaria que asegure la continuidad del servicio y la integridad de la información mediante un modelo híbrido (Local-Cloud).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2200">
                <a:solidFill>
                  <a:schemeClr val="dk1"/>
                </a:solidFill>
              </a:rPr>
              <a:t>Objetivos Específicos</a:t>
            </a:r>
            <a:endParaRPr b="1" sz="22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s-CL" sz="2000">
                <a:solidFill>
                  <a:schemeClr val="dk1"/>
                </a:solidFill>
              </a:rPr>
              <a:t>Diseñar</a:t>
            </a:r>
            <a:r>
              <a:rPr lang="es-CL" sz="2000">
                <a:solidFill>
                  <a:schemeClr val="dk1"/>
                </a:solidFill>
              </a:rPr>
              <a:t> una base de datos relacional en PostgreSQL capaz de replicarse entre Supabase y un entorno local.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s-CL" sz="2000">
                <a:solidFill>
                  <a:schemeClr val="dk1"/>
                </a:solidFill>
              </a:rPr>
              <a:t>Implementar</a:t>
            </a:r>
            <a:r>
              <a:rPr lang="es-CL" sz="2000">
                <a:solidFill>
                  <a:schemeClr val="dk1"/>
                </a:solidFill>
              </a:rPr>
              <a:t> un algoritmo de sincronización que resuelva conflictos de datos y valide tiempos de entrega para una gestión de multas justa.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s-CL" sz="2000">
                <a:solidFill>
                  <a:schemeClr val="dk1"/>
                </a:solidFill>
              </a:rPr>
              <a:t>Desarrollar</a:t>
            </a:r>
            <a:r>
              <a:rPr lang="es-CL" sz="2000">
                <a:solidFill>
                  <a:schemeClr val="dk1"/>
                </a:solidFill>
              </a:rPr>
              <a:t> una interfaz de usuario en React que gestione estados de conexión y permita la operatividad fluida en ambas modalidades.</a:t>
            </a:r>
            <a:endParaRPr sz="3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i="1" lang="es-CL"/>
              <a:t>Diagrama general de la situación inicial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 txBox="1"/>
          <p:nvPr>
            <p:ph idx="2" type="body"/>
          </p:nvPr>
        </p:nvSpPr>
        <p:spPr>
          <a:xfrm>
            <a:off x="640725" y="1137600"/>
            <a:ext cx="11551200" cy="50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AutoNum type="arabicPeriod"/>
            </a:pPr>
            <a:r>
              <a:rPr b="1" lang="es-CL" sz="2100"/>
              <a:t>Inicio:</a:t>
            </a:r>
            <a:r>
              <a:rPr lang="es-CL" sz="2100"/>
              <a:t> El alumno llega al mesón para solicitar un préstamo o devolver un libro.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b="1" lang="es-CL" sz="2100"/>
              <a:t>Punto de Control:</a:t>
            </a:r>
            <a:r>
              <a:rPr lang="es-CL" sz="2100"/>
              <a:t> El bibliotecario intenta acceder al software de gestión (que vive 100% en Internet).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b="1" lang="es-CL" sz="2100"/>
              <a:t>El Problema (Diamante de Decisión):</a:t>
            </a:r>
            <a:endParaRPr b="1"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b="1" lang="es-CL" sz="2100"/>
              <a:t>Si hay Internet:</a:t>
            </a:r>
            <a:r>
              <a:rPr lang="es-CL" sz="2100"/>
              <a:t> El proceso fluye normal, pero dependemos de un tercero (ISP).</a:t>
            </a:r>
            <a:endParaRPr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b="1" lang="es-CL" sz="2100"/>
              <a:t>Si NO hay Internet (Falla Crítica):</a:t>
            </a:r>
            <a:r>
              <a:rPr lang="es-CL" sz="2100"/>
              <a:t> El software queda bloqueado. No se puede consultar el historial del alumno ni el stock.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b="1" lang="es-CL" sz="2100"/>
              <a:t>La Contingencia Precaria:</a:t>
            </a:r>
            <a:r>
              <a:rPr lang="es-CL" sz="2100"/>
              <a:t> El personal debe anotar los datos en un </a:t>
            </a:r>
            <a:r>
              <a:rPr b="1" lang="es-CL" sz="2100"/>
              <a:t>cuaderno físico</a:t>
            </a:r>
            <a:r>
              <a:rPr lang="es-CL" sz="2100"/>
              <a:t>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b="1" lang="es-CL" sz="2100"/>
              <a:t>Resultado Negativo:</a:t>
            </a:r>
            <a:r>
              <a:rPr lang="es-CL" sz="2100"/>
              <a:t> </a:t>
            </a:r>
            <a:r>
              <a:rPr b="1" lang="es-CL" sz="2100"/>
              <a:t>Inconsistencia:</a:t>
            </a:r>
            <a:r>
              <a:rPr lang="es-CL" sz="2100"/>
              <a:t> El libro figura "disponible" en la web pero ya se lo llevaron.</a:t>
            </a:r>
            <a:endParaRPr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b="1" lang="es-CL" sz="2100"/>
              <a:t>Multas Injustas:</a:t>
            </a:r>
            <a:r>
              <a:rPr lang="es-CL" sz="2100"/>
              <a:t> Al volver el sistema (horas o días después), el bibliotecario digita la devolución con la fecha de "hoy" y no la fecha "real", perjudicando al estudiante.</a:t>
            </a:r>
            <a:endParaRPr sz="2100"/>
          </a:p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g396b111e98e_0_21" title="Untitled Diagram.drawio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7625" y="100175"/>
            <a:ext cx="9073351" cy="6582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6b111e98e_0_28"/>
          <p:cNvSpPr txBox="1"/>
          <p:nvPr/>
        </p:nvSpPr>
        <p:spPr>
          <a:xfrm>
            <a:off x="1848775" y="1046550"/>
            <a:ext cx="9866400" cy="49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L" sz="2200">
                <a:solidFill>
                  <a:schemeClr val="dk1"/>
                </a:solidFill>
              </a:rPr>
              <a:t>Especificaciones técnicas del proyecto</a:t>
            </a:r>
            <a:endParaRPr b="1"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900">
                <a:solidFill>
                  <a:schemeClr val="dk1"/>
                </a:solidFill>
              </a:rPr>
              <a:t>Stack Tecnológico (Ambiente Cloud y Local)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900">
                <a:solidFill>
                  <a:schemeClr val="dk1"/>
                </a:solidFill>
              </a:rPr>
              <a:t>Frontend</a:t>
            </a:r>
            <a:r>
              <a:rPr lang="es-CL" sz="1900">
                <a:solidFill>
                  <a:schemeClr val="dk1"/>
                </a:solidFill>
              </a:rPr>
              <a:t>: Desarrollado en React.js. Se implementará como una PWA (Progressive Web App) para permitir la instalación en dispositivos.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900">
                <a:solidFill>
                  <a:schemeClr val="dk1"/>
                </a:solidFill>
              </a:rPr>
              <a:t>Backend Cloud</a:t>
            </a:r>
            <a:r>
              <a:rPr lang="es-CL" sz="1900">
                <a:solidFill>
                  <a:schemeClr val="dk1"/>
                </a:solidFill>
              </a:rPr>
              <a:t>: Se utilizará Supabase como plataforma Backend, aprovechando su motor de base de datos PostgreSQL, sistema de autenticación JWT y almacenamiento de archivos para las portadas digitales.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900">
                <a:solidFill>
                  <a:schemeClr val="dk1"/>
                </a:solidFill>
              </a:rPr>
              <a:t>Servidor de Contingencia</a:t>
            </a:r>
            <a:r>
              <a:rPr lang="es-CL" sz="1900">
                <a:solidFill>
                  <a:schemeClr val="dk1"/>
                </a:solidFill>
              </a:rPr>
              <a:t> Local:Un entorno de ejecución en Node.js con Express que correrá dentro de la red LAN de la biblioteca. Este servidor alojará una réplica local de la base de datos PostgreSQL.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2024-03-07T18:55:37Z</dcterms:created>
  <dc:creator>Daniela Osorio C.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0x010100AF28BDBD65D93F4BA99B6439AFEA320E</vt:lpwstr>
  </property>
</Properties>
</file>