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9pIgGEq8njcuUWMofMOO2RpK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5490FF-70BD-4E9B-B0FD-BE65EB1B7C07}">
  <a:tblStyle styleId="{6B5490FF-70BD-4E9B-B0FD-BE65EB1B7C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05caeed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05caeeda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05caeeda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05caeeda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05caeeda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05caeeda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05caeeda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05caeeda2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08250" y="4524000"/>
            <a:ext cx="10375500" cy="231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Benjamín Tapia - Joaquín Villalón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Asignatura: Taller Aplicado de Programación 001D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Docente: Nancy Beatriz Bernal Sánchez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Fecha: 02/07/2026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95" name="Google Shape;95;p2"/>
          <p:cNvGrpSpPr/>
          <p:nvPr/>
        </p:nvGrpSpPr>
        <p:grpSpPr>
          <a:xfrm>
            <a:off x="4121025" y="1710825"/>
            <a:ext cx="8070956" cy="2855102"/>
            <a:chOff x="0" y="0"/>
            <a:chExt cx="7633553" cy="2855102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Benjamín Tapia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y Desarrollador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Documentación, Diagramas, Planificación, Presentaciones, Desarrollo Frontend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Joaquín Villalón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</a:t>
              </a: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 Stack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095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Char char="•"/>
              </a:pPr>
              <a:r>
                <a:rPr lang="es-CL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backend, integración, base de datos y funcionalidades 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manual de préstamos bibliotecarios.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internet para operar.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control sobre inventario y reservas.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para obtener información en tiempo real.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progresiva que permita administrar libros, préstamos, reservas y usuarios, incorporando sincronización con la nube y funcionamiento offline.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Implementar la gestión completa del catálogo (libros, ejemplares, autores, géneros, editoriales) y el flujo de préstamos de extremo a extremo: solicitud, revisión del bibliotecario, aprobación, entrega y devolución, con un panel de administración y operaciones totalmente funcionales sin internet.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servicios complementarios que aprovechen la conexión a internet cuando esté disponible: sincronización bidireccional con Supabase como respaldo y acceso remoto, pago de multas en línea mediante Flow.cl, chat de asistencia con inteligencia artificial y funcionalidad PWA para dispositivos móviles.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2" name="Google Shape;132;p5"/>
          <p:cNvSpPr txBox="1"/>
          <p:nvPr/>
        </p:nvSpPr>
        <p:spPr>
          <a:xfrm>
            <a:off x="0" y="2282650"/>
            <a:ext cx="4884900" cy="426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libros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usuarios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Préstamos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Reservas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Sincronización nube-local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Funcionamiento offline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Carátulas de libros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723500" y="2282650"/>
            <a:ext cx="5468400" cy="426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Las funciones de administrador y bibliotecario solo están disponibles desde la red local. En la versión en línea solo funciona el perfil de usuario normal.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El pago de multas con Flow.cl y el chat con IA en la nube requieren conexión a internet. Sin internet, estas funciones no están disponibles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acceder desde varios computadores de la biblioteca, se necesita que estén en la misma red local y se accede mediante la IP del servidor.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50" y="5018886"/>
            <a:ext cx="1778801" cy="177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62925" y="866411"/>
            <a:ext cx="1778801" cy="177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-9050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6"/>
          <p:cNvSpPr txBox="1"/>
          <p:nvPr/>
        </p:nvSpPr>
        <p:spPr>
          <a:xfrm>
            <a:off x="354850" y="2219725"/>
            <a:ext cx="47691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 (Scrum Adaptado)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la solución.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iterativo.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Corrección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incidencias.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y documentación.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8600" y="2219736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54" name="Google Shape;154;p7"/>
          <p:cNvGraphicFramePr/>
          <p:nvPr/>
        </p:nvGraphicFramePr>
        <p:xfrm>
          <a:off x="136075" y="20482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{6B5490FF-70BD-4E9B-B0FD-BE65EB1B7C07}</a:tableStyleId>
              </a:tblPr>
              <a:tblGrid>
                <a:gridCol w="1497075"/>
                <a:gridCol w="575825"/>
                <a:gridCol w="575825"/>
                <a:gridCol w="575825"/>
                <a:gridCol w="575825"/>
                <a:gridCol w="575825"/>
                <a:gridCol w="575825"/>
                <a:gridCol w="575825"/>
                <a:gridCol w="575825"/>
                <a:gridCol w="575825"/>
                <a:gridCol w="575825"/>
                <a:gridCol w="575825"/>
                <a:gridCol w="575825"/>
                <a:gridCol w="431425"/>
                <a:gridCol w="495500"/>
                <a:gridCol w="495500"/>
                <a:gridCol w="556625"/>
                <a:gridCol w="537425"/>
                <a:gridCol w="854150"/>
              </a:tblGrid>
              <a:tr h="180975">
                <a:tc row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Actividad/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D5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Presentación Final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D5"/>
                    </a:solidFill>
                  </a:tcPr>
                </a:tc>
                <a:tc hMerge="1"/>
              </a:tr>
              <a:tr h="1905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3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del proyecto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requerimientos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del sistema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Diagramas UML y MER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arquitectura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ambiente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módulo libros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préstamos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reservas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Supabase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Funcionamiento offline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y correcciones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s-CL" sz="11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Presentación Final</a:t>
                      </a:r>
                      <a:endParaRPr i="1" sz="11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6675" marL="6667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0" y="648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62" name="Google Shape;162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3" name="Google Shape;16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0600" y="1294823"/>
            <a:ext cx="8850802" cy="550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g3f05caeeda2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05caeeda2_0_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Inteligente de Gestión Bibliotecaria Resiliente (SIGBIR)”</a:t>
            </a:r>
            <a:endParaRPr/>
          </a:p>
        </p:txBody>
      </p:sp>
      <p:sp>
        <p:nvSpPr>
          <p:cNvPr id="170" name="Google Shape;170;g3f05caeeda2_0_6"/>
          <p:cNvSpPr txBox="1"/>
          <p:nvPr/>
        </p:nvSpPr>
        <p:spPr>
          <a:xfrm>
            <a:off x="0" y="6483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71" name="Google Shape;171;g3f05caeeda2_0_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2" name="Google Shape;172;g3f05caeeda2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00" y="1356730"/>
            <a:ext cx="11887201" cy="4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cxnSp>
        <p:nvCxnSpPr>
          <p:cNvPr id="179" name="Google Shape;17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0" name="Google Shape;18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2014" y="992900"/>
            <a:ext cx="12163666" cy="57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5" name="Google Shape;185;g3f05caeeda2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05caeeda2_0_1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Inteligente de Gestión Bibliotecaria Resiliente (SIGBIR)”</a:t>
            </a:r>
            <a:endParaRPr/>
          </a:p>
        </p:txBody>
      </p:sp>
      <p:cxnSp>
        <p:nvCxnSpPr>
          <p:cNvPr id="187" name="Google Shape;187;g3f05caeeda2_0_1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8" name="Google Shape;188;g3f05caeeda2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75" y="992900"/>
            <a:ext cx="10985370" cy="579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g3f05caeeda2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f05caeeda2_0_2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Inteligente de Gestión Bibliotecaria Resiliente (SIGBIR)”</a:t>
            </a:r>
            <a:endParaRPr/>
          </a:p>
        </p:txBody>
      </p:sp>
      <p:cxnSp>
        <p:nvCxnSpPr>
          <p:cNvPr id="195" name="Google Shape;195;g3f05caeeda2_0_2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6" name="Google Shape;196;g3f05caeeda2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950" y="738225"/>
            <a:ext cx="11388093" cy="61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g3f05caeeda2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05caeeda2_0_5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Inteligente de Gestión Bibliotecaria Resiliente (SIGBIR)”</a:t>
            </a:r>
            <a:endParaRPr/>
          </a:p>
        </p:txBody>
      </p:sp>
      <p:cxnSp>
        <p:nvCxnSpPr>
          <p:cNvPr id="203" name="Google Shape;203;g3f05caeeda2_0_5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4" name="Google Shape;204;g3f05caeeda2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500" y="1125202"/>
            <a:ext cx="10259000" cy="556029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05caeeda2_0_59"/>
          <p:cNvSpPr txBox="1"/>
          <p:nvPr/>
        </p:nvSpPr>
        <p:spPr>
          <a:xfrm>
            <a:off x="4598800" y="589950"/>
            <a:ext cx="579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Sistema Inteligente de Gestión Bibliotecaria Resiliente (SIGBIR)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0" y="73825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13" name="Google Shape;213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4" name="Google Shape;214;p10"/>
          <p:cNvSpPr txBox="1"/>
          <p:nvPr/>
        </p:nvSpPr>
        <p:spPr>
          <a:xfrm>
            <a:off x="136200" y="1501500"/>
            <a:ext cx="3000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FRONTEND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React </a:t>
            </a:r>
            <a:r>
              <a:rPr lang="es-CL"/>
              <a:t>- Biblioteca de interfaz de usuario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TypeScript </a:t>
            </a:r>
            <a:r>
              <a:rPr lang="es-CL"/>
              <a:t>- Lenguaje con tipado estático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Vite </a:t>
            </a:r>
            <a:r>
              <a:rPr lang="es-CL"/>
              <a:t>- Empaquetador y servidor de desarrollo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Tailwind CSS </a:t>
            </a:r>
            <a:r>
              <a:rPr lang="es-CL"/>
              <a:t>- Estilos utility-first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shadcn</a:t>
            </a:r>
            <a:r>
              <a:rPr lang="es-CL"/>
              <a:t>/</a:t>
            </a:r>
            <a:r>
              <a:rPr b="1" lang="es-CL"/>
              <a:t>ui</a:t>
            </a:r>
            <a:r>
              <a:rPr lang="es-CL"/>
              <a:t> </a:t>
            </a:r>
            <a:r>
              <a:rPr b="1" lang="es-CL"/>
              <a:t>+ </a:t>
            </a:r>
            <a:r>
              <a:rPr b="1" lang="es-CL"/>
              <a:t>Radix </a:t>
            </a:r>
            <a:r>
              <a:rPr lang="es-CL"/>
              <a:t>- Componentes accesibles y personalizables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React Router DOM </a:t>
            </a:r>
            <a:r>
              <a:rPr lang="es-CL"/>
              <a:t>- Enrutamiento de la SPA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html5</a:t>
            </a:r>
            <a:r>
              <a:rPr lang="es-CL"/>
              <a:t>-</a:t>
            </a:r>
            <a:r>
              <a:rPr b="1" lang="es-CL"/>
              <a:t>qrcode</a:t>
            </a:r>
            <a:r>
              <a:rPr lang="es-CL"/>
              <a:t> - Escaneo de códigos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QR vite-plugin-pwa</a:t>
            </a:r>
            <a:r>
              <a:rPr lang="es-CL"/>
              <a:t> - Soporte PWA con service worker </a:t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3400500" y="1448275"/>
            <a:ext cx="3000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BACKEND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PostgreSQL </a:t>
            </a:r>
            <a:r>
              <a:rPr lang="es-CL"/>
              <a:t>- Base de datos relacional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PostgREST </a:t>
            </a:r>
            <a:r>
              <a:rPr lang="es-CL"/>
              <a:t>- API REST automática sobre PostgreSQL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Express.js</a:t>
            </a:r>
            <a:r>
              <a:rPr lang="es-CL"/>
              <a:t> - Servidor para archivos, PDFs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Node.js</a:t>
            </a:r>
            <a:r>
              <a:rPr lang="es-CL"/>
              <a:t> - Entorno de ejecución del servidor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PDFKit </a:t>
            </a:r>
            <a:r>
              <a:rPr lang="es-CL"/>
              <a:t>- Generación de PDF (comprobantes de pedido y multa)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Multer </a:t>
            </a:r>
            <a:r>
              <a:rPr lang="es-CL"/>
              <a:t>- Carga de archivos (imágenes, portadas, avatares)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DBGate</a:t>
            </a:r>
            <a:r>
              <a:rPr lang="es-CL"/>
              <a:t> - Visor visual de la base de datos</a:t>
            </a: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6400500" y="150150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INFRAESTRUCTURA Y DESPLIEGUE</a:t>
            </a:r>
            <a:r>
              <a:rPr lang="es-CL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Docker + Docker Compose</a:t>
            </a:r>
            <a:r>
              <a:rPr lang="es-CL"/>
              <a:t> - Contenedores del entorno local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Netlify</a:t>
            </a:r>
            <a:r>
              <a:rPr lang="es-CL"/>
              <a:t> - Despliegue del frontend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Supabase</a:t>
            </a:r>
            <a:r>
              <a:rPr lang="es-CL"/>
              <a:t> - Base de datos en la nube + almacenamiento de archivos </a:t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9192000" y="1448275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SERVICIOS EXTERNOS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Flow.cl</a:t>
            </a:r>
            <a:r>
              <a:rPr lang="es-CL"/>
              <a:t> - Pasarela de pagos para multas (modo sandbox)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Ollama</a:t>
            </a:r>
            <a:r>
              <a:rPr lang="es-CL"/>
              <a:t> - Chat con IA local (modelo qwen2.5:14b)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GitHub Models</a:t>
            </a:r>
            <a:r>
              <a:rPr lang="es-CL"/>
              <a:t> - Chat con IA en línea (GPT-4o-mini)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OpenLibrary + Google Books</a:t>
            </a:r>
            <a:r>
              <a:rPr lang="es-CL"/>
              <a:t> - Búsqueda automática de portadas por ISBN 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 txBox="1"/>
          <p:nvPr/>
        </p:nvSpPr>
        <p:spPr>
          <a:xfrm>
            <a:off x="-70399" y="108030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301700" y="2212225"/>
            <a:ext cx="5151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</a:t>
            </a:r>
            <a:r>
              <a:rPr lang="es-CL"/>
              <a:t>Sistema offline-first funcional: la biblioteca opera sin internet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Las devoluciones se registran al instante, se eliminan las multas injustas por caídas del sistema </a:t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301700" y="3258925"/>
            <a:ext cx="5151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- 14 módulos completos: autenticación, catálogo, carrito, préstamos, operaciones, administración, reseñas, listas, multas, pagos, chat IA, mapa, notificaciones y sincronización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Versión local operativa con Docker (4 servicios: PostgreSQL, PostgREST, Express, DBGate)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Versión en línea desplegada en Netlify con Supabase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Sincronización bidireccional con rendimiento optimizado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6154125" y="2212225"/>
            <a:ext cx="5222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Corrección de alucinaciones del chat IA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Responsive móvil (sidebar, toasts)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Sincronización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Manejo de archivos huérfanos en Supabase Storage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Bloqueo de pedidos cuando hay multas pendientes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- Validación de conflictos de ejemplares en revisión de pedidos 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/>
        </p:nvSpPr>
        <p:spPr>
          <a:xfrm>
            <a:off x="1" y="8681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pic>
        <p:nvPicPr>
          <p:cNvPr id="239" name="Google Shape;23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25625"/>
            <a:ext cx="811426" cy="81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3810" y="1838652"/>
            <a:ext cx="811414" cy="78534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 txBox="1"/>
          <p:nvPr/>
        </p:nvSpPr>
        <p:spPr>
          <a:xfrm>
            <a:off x="307200" y="3087100"/>
            <a:ext cx="11577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1. SINCRONIZACIÓN DE BASES DE DATOS LOCAL Y EN LA NUBE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Fue el mayor desafío del proyecto. Se intentaron 3 enfoques distintos hasta llegar a la solución actual: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Versión 1 — Copia completa local hacia online. Se copiaban todos los registros de la base local a Supabase. Sencillo, pero los cambios hechos en línea no volvían al local. Resultado: la versión en línea era de solo lectura. No se podían registrar pedidos, reseñas ni cambios de perfil desde la nube.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Versión 2 — Cola de pendientes en ambas bases. Se implementó una cola de acciones pendientes en ambos lados. Cada operación generaba un registro que el otro lado debía procesar. Resultado: la aplicación se sentía lenta y poco responsiva. Cada acción escribía en dos bases y esperaba confirmación de ambas.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Versión 3 — Actual: Sync diferencial + cola unidireccional Push: compara checksums y solo sube lo que cambió. Pull: lee la cola de acciones pendientes desde Supabase y las ejecuta localmente. Resultado: rápido (~4 seg sin cambios), responsivo y la versión en línea es totalmente operativa. 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